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46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411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411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D4FF"/>
                </a:solidFill>
              </a:rPr>
              <a:t>DEPI GRADUATION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AGENT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474720" y="2377440"/>
            <a:ext cx="21945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0E4F7"/>
                </a:solidFill>
              </a:rPr>
              <a:t>A Reinforcement Learning Agent That Learns to Navigate Real Websites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" y="3401568"/>
            <a:ext cx="1417320" cy="338328"/>
          </a:xfrm>
          <a:prstGeom prst="roundRect">
            <a:avLst>
              <a:gd name="adj" fmla="val 27027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" y="3401568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DQL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1428" y="3401568"/>
            <a:ext cx="1417320" cy="338328"/>
          </a:xfrm>
          <a:prstGeom prst="roundRect">
            <a:avLst>
              <a:gd name="adj" fmla="val 27027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1428" y="3401568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CNN Perception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63340" y="3401568"/>
            <a:ext cx="1417320" cy="338328"/>
          </a:xfrm>
          <a:prstGeom prst="roundRect">
            <a:avLst>
              <a:gd name="adj" fmla="val 27027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3340" y="3401568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MiniWoB++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5252" y="3401568"/>
            <a:ext cx="1417320" cy="338328"/>
          </a:xfrm>
          <a:prstGeom prst="roundRect">
            <a:avLst>
              <a:gd name="adj" fmla="val 27027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5252" y="3401568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Pure NumPy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27164" y="3401568"/>
            <a:ext cx="1417320" cy="338328"/>
          </a:xfrm>
          <a:prstGeom prst="roundRect">
            <a:avLst>
              <a:gd name="adj" fmla="val 27027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7164" y="3401568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Gymnasium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</a:rPr>
              <a:t>Ahmed Khaled  ·  Hager Ayman  ·  Moustafa Fathalla  ·  Hend Elkholy  ·  Mina Ibrahim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Real Browser Control  ·  No Hardcoded Rules  ·  Learns from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Web Agent?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8869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</a:rPr>
              <a:t>Real Web Navigation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755648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4F7"/>
                </a:solidFill>
              </a:rPr>
              <a:t>Give it a URL and a natural-language instruction — it figures out the rest.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54680" y="822960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8869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</a:rPr>
              <a:t>No Hardcoded Rules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64408" y="1755648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4F7"/>
                </a:solidFill>
              </a:rPr>
              <a:t>No CSS selectors, no XPaths. The agent reads pixels and DOM text.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35040" y="822960"/>
            <a:ext cx="2651760" cy="1554480"/>
          </a:xfrm>
          <a:prstGeom prst="rect">
            <a:avLst/>
          </a:prstGeom>
          <a:solidFill>
            <a:srgbClr val="162040"/>
          </a:solidFill>
          <a:ln w="19050">
            <a:solidFill>
              <a:srgbClr val="00FF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8869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CC"/>
                </a:solidFill>
              </a:rPr>
              <a:t>Learns from Experience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44768" y="1755648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4F7"/>
                </a:solidFill>
              </a:rPr>
              <a:t>Starts random. Improves through repeated episodes using shaped rewards.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</a:rPr>
              <a:t>HOW ONE STEP WORKS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0040" y="2907792"/>
            <a:ext cx="146304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2953512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1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49300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5760" y="4005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Screenshot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+ DOM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1801368" y="3858768"/>
            <a:ext cx="219456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984248" y="3767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2039112" y="2907792"/>
            <a:ext cx="146304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542032" y="2953512"/>
            <a:ext cx="457200" cy="4572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542032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2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2032" y="3493008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084832" y="4005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2084832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GlobalCNN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+ LocalCNN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3520440" y="3858768"/>
            <a:ext cx="219456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703320" y="3767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3758184" y="2907792"/>
            <a:ext cx="146304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FF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261104" y="2953512"/>
            <a:ext cx="457200" cy="45720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261104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3</a:t>
            </a:r>
            <a:endParaRPr lang="en-US" sz="13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3493008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803904" y="4005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Decide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803904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3 policy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heads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5239512" y="3858768"/>
            <a:ext cx="219456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422392" y="3767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5477256" y="2907792"/>
            <a:ext cx="146304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FF9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980176" y="2953512"/>
            <a:ext cx="457200" cy="45720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980176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4</a:t>
            </a:r>
            <a:endParaRPr lang="en-US" sz="13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3493008"/>
            <a:ext cx="457200" cy="4572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522976" y="4005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5522976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Click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Scroll / Type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6958584" y="3858768"/>
            <a:ext cx="219456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7141464" y="3767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</a:rPr>
              <a:t>▶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7196328" y="2907792"/>
            <a:ext cx="146304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7699248" y="2953512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7699248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5</a:t>
            </a:r>
            <a:endParaRPr lang="en-US" sz="13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3493008"/>
            <a:ext cx="457200" cy="45720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242048" y="4005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7242048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REINFORCE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updates W</a:t>
            </a:r>
            <a:endParaRPr lang="en-US" sz="850" dirty="0"/>
          </a:p>
        </p:txBody>
      </p:sp>
      <p:sp>
        <p:nvSpPr>
          <p:cNvPr id="56" name="Text 46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834640" cy="47548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8046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7772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0E1A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371600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D4FF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" y="140817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screen_processor.py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8328" y="170078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PNG → float32 [W×H×3]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8600" y="2221992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D4FF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" y="22585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global_cnn.py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8328" y="255117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5 Conv layers → 256-dim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8600" y="3072384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D4FF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8328" y="31089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local_cnn.py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38328" y="340156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Gaussian @ cursor → 128-dim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28600" y="3922776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D4FF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38328" y="39593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dom_feature_extractor.py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8328" y="425196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Query-match heatmap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090672" y="2212848"/>
            <a:ext cx="40233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1214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777240"/>
            <a:ext cx="2834640" cy="475488"/>
          </a:xfrm>
          <a:prstGeom prst="rect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804672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49040" y="7772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0E1A"/>
                </a:solidFill>
              </a:rPr>
              <a:t>POLICY HEADS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91840" y="1371600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3401568" y="140817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</a:rPr>
              <a:t>_grid_head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401568" y="170078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WHERE to click (10×10 grid)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291840" y="2221992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3401568" y="22585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</a:rPr>
              <a:t>_action_head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401568" y="255117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WHAT to do (7 actions)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91840" y="3072384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3401568" y="31089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</a:rPr>
              <a:t>_key_head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401568" y="340156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WHICH key (~80 chars)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291840" y="3922776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3401568" y="39593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</a:rPr>
              <a:t>_SoftmaxHead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401568" y="425196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Linear + softmax → π(a|s)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153912" y="2212848"/>
            <a:ext cx="40233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492240" y="21214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355080" y="777240"/>
            <a:ext cx="2834640" cy="475488"/>
          </a:xfrm>
          <a:prstGeom prst="rect">
            <a:avLst/>
          </a:prstGeom>
          <a:solidFill>
            <a:srgbClr val="00FFCC">
              <a:alpha val="80000"/>
            </a:srgbClr>
          </a:solidFill>
          <a:ln w="12700">
            <a:solidFill>
              <a:srgbClr val="00FFCC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804672"/>
            <a:ext cx="329184" cy="32918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812280" y="7772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0E1A"/>
                </a:solidFill>
              </a:rPr>
              <a:t>EXECUTION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355080" y="1371600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FFCC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6464808" y="140817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CC"/>
                </a:solidFill>
              </a:rPr>
              <a:t>environment_handler.py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464808" y="170078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Master control loop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355080" y="2221992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FFCC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6464808" y="22585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CC"/>
                </a:solidFill>
              </a:rPr>
              <a:t>MiniWoB++ Gymnasium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464808" y="255117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Headless Chromium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6355080" y="3072384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FFCC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6464808" y="31089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CC"/>
                </a:solidFill>
              </a:rPr>
              <a:t>reward.py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6464808" y="340156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Shaped reward [−1, +1]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6355080" y="3922776"/>
            <a:ext cx="2834640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00FFCC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Text 47"/>
          <p:cNvSpPr/>
          <p:nvPr/>
        </p:nvSpPr>
        <p:spPr>
          <a:xfrm>
            <a:off x="6464808" y="39593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CC"/>
                </a:solidFill>
              </a:rPr>
              <a:t>miniwob_env.py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6464808" y="425196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MiniWoB++ integration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REINFORCE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120640" cy="694944"/>
          </a:xfrm>
          <a:prstGeom prst="rect">
            <a:avLst/>
          </a:prstGeom>
          <a:solidFill>
            <a:srgbClr val="162040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923544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23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2354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86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Sample Episode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</a:rPr>
              <a:t>Play full episode — record (s, a, r) tuples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600200"/>
            <a:ext cx="5120640" cy="694944"/>
          </a:xfrm>
          <a:prstGeom prst="rect">
            <a:avLst/>
          </a:prstGeom>
          <a:solidFill>
            <a:srgbClr val="162040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" y="1719072"/>
            <a:ext cx="457200" cy="4572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1907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</a:rPr>
              <a:t>Discounted Return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17320" y="1947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</a:rPr>
              <a:t>Gₜ = rₜ + γ·rₜ₊₁ + γ²·rₜ₊₂ + …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74320" y="2395728"/>
            <a:ext cx="5120640" cy="694944"/>
          </a:xfrm>
          <a:prstGeom prst="rect">
            <a:avLst/>
          </a:prstGeom>
          <a:solidFill>
            <a:srgbClr val="162040"/>
          </a:solidFill>
          <a:ln w="12700">
            <a:solidFill>
              <a:srgbClr val="00FF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8328" y="2514600"/>
            <a:ext cx="457200" cy="45720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832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5146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2459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CC"/>
                </a:solidFill>
              </a:rPr>
              <a:t>Subtract Baseline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4173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</a:rPr>
              <a:t>advantage = Gₜ − baseline  (reduces variance)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74320" y="3191256"/>
            <a:ext cx="5120640" cy="694944"/>
          </a:xfrm>
          <a:prstGeom prst="rect">
            <a:avLst/>
          </a:prstGeom>
          <a:solidFill>
            <a:srgbClr val="162040"/>
          </a:solidFill>
          <a:ln w="12700">
            <a:solidFill>
              <a:srgbClr val="FF9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38328" y="3310128"/>
            <a:ext cx="457200" cy="45720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3832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4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31012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3255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</a:rPr>
              <a:t>Gradient Update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417320" y="3538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</a:rPr>
              <a:t>ΔW = lr · adv · ∇ log π(a|s)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74320" y="3986784"/>
            <a:ext cx="5120640" cy="694944"/>
          </a:xfrm>
          <a:prstGeom prst="rect">
            <a:avLst/>
          </a:prstGeom>
          <a:solidFill>
            <a:srgbClr val="162040"/>
          </a:solidFill>
          <a:ln w="1270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8328" y="4105656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38328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5</a:t>
            </a:r>
            <a:endParaRPr lang="en-US" sz="13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10565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17320" y="4050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</a:rPr>
              <a:t>Update Baseline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417320" y="4334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4F7"/>
                </a:solidFill>
              </a:rPr>
              <a:t>baseline = 0.95·bl + 0.05·G₀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669280" y="795528"/>
            <a:ext cx="3246120" cy="411480"/>
          </a:xfrm>
          <a:prstGeom prst="rect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669280" y="79552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THEORY LINKS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669280" y="1335024"/>
            <a:ext cx="3246120" cy="621792"/>
          </a:xfrm>
          <a:prstGeom prst="rect">
            <a:avLst/>
          </a:prstGeom>
          <a:solidFill>
            <a:srgbClr val="112244"/>
          </a:solidFill>
          <a:ln w="1016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669280" y="1335024"/>
            <a:ext cx="64008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806440" y="1380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Bellman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806440" y="1655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4F7"/>
                </a:solidFill>
              </a:rPr>
              <a:t>V(s) = R + γ·V(s')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5669280" y="2057400"/>
            <a:ext cx="3246120" cy="621792"/>
          </a:xfrm>
          <a:prstGeom prst="rect">
            <a:avLst/>
          </a:prstGeom>
          <a:solidFill>
            <a:srgbClr val="112244"/>
          </a:solidFill>
          <a:ln w="1016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5669280" y="2057400"/>
            <a:ext cx="64008" cy="6217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806440" y="2103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2FBE"/>
                </a:solidFill>
              </a:rPr>
              <a:t>REINFORCE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806440" y="2377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4F7"/>
                </a:solidFill>
              </a:rPr>
              <a:t>∇ log π(a|s) · Gₜ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5669280" y="2779776"/>
            <a:ext cx="3246120" cy="621792"/>
          </a:xfrm>
          <a:prstGeom prst="rect">
            <a:avLst/>
          </a:prstGeom>
          <a:solidFill>
            <a:srgbClr val="112244"/>
          </a:solidFill>
          <a:ln w="10160">
            <a:solidFill>
              <a:srgbClr val="00FF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669280" y="2779776"/>
            <a:ext cx="64008" cy="62179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806440" y="2825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CC"/>
                </a:solidFill>
              </a:rPr>
              <a:t>Monte Carlo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5806440" y="3099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4F7"/>
                </a:solidFill>
              </a:rPr>
              <a:t>Full episode before update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669280" y="3502152"/>
            <a:ext cx="3246120" cy="621792"/>
          </a:xfrm>
          <a:prstGeom prst="rect">
            <a:avLst/>
          </a:prstGeom>
          <a:solidFill>
            <a:srgbClr val="112244"/>
          </a:solidFill>
          <a:ln w="10160">
            <a:solidFill>
              <a:srgbClr val="FF9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5669280" y="3502152"/>
            <a:ext cx="64008" cy="6217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806440" y="3547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800"/>
                </a:solidFill>
              </a:rPr>
              <a:t>Baseline</a:t>
            </a:r>
            <a:endParaRPr lang="en-US" sz="1050" dirty="0"/>
          </a:p>
        </p:txBody>
      </p:sp>
      <p:sp>
        <p:nvSpPr>
          <p:cNvPr id="52" name="Text 45"/>
          <p:cNvSpPr/>
          <p:nvPr/>
        </p:nvSpPr>
        <p:spPr>
          <a:xfrm>
            <a:off x="5806440" y="38221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4F7"/>
                </a:solidFill>
              </a:rPr>
              <a:t>EMA of returns  (variance ↓)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5669280" y="4224528"/>
            <a:ext cx="3246120" cy="621792"/>
          </a:xfrm>
          <a:prstGeom prst="rect">
            <a:avLst/>
          </a:prstGeom>
          <a:solidFill>
            <a:srgbClr val="112244"/>
          </a:solidFill>
          <a:ln w="1016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5669280" y="4224528"/>
            <a:ext cx="64008" cy="6217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5806440" y="42702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Dense Reward</a:t>
            </a:r>
            <a:endParaRPr lang="en-US" sz="1050" dirty="0"/>
          </a:p>
        </p:txBody>
      </p:sp>
      <p:sp>
        <p:nvSpPr>
          <p:cNvPr id="56" name="Text 49"/>
          <p:cNvSpPr/>
          <p:nvPr/>
        </p:nvSpPr>
        <p:spPr>
          <a:xfrm>
            <a:off x="5806440" y="45445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4F7"/>
                </a:solidFill>
              </a:rPr>
              <a:t>reward.py  clipped [−1, +1]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Perception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95528"/>
            <a:ext cx="8595360" cy="347472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GlobalCNN  —  global_cnn.py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298448" cy="1005840"/>
          </a:xfrm>
          <a:prstGeom prst="rect">
            <a:avLst/>
          </a:prstGeom>
          <a:solidFill>
            <a:srgbClr val="162040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618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Conv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7"/>
                </a:solidFill>
              </a:rPr>
              <a:t>3→16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1051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Edge detectors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91056" y="1627632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19072" y="1234440"/>
            <a:ext cx="1298448" cy="1005840"/>
          </a:xfrm>
          <a:prstGeom prst="rect">
            <a:avLst/>
          </a:prstGeom>
          <a:solidFill>
            <a:srgbClr val="162040"/>
          </a:solidFill>
          <a:ln w="19050">
            <a:solidFill>
              <a:srgbClr val="00FF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19072" y="12618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CC"/>
                </a:solidFill>
              </a:rPr>
              <a:t>Conv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19072" y="15544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7"/>
                </a:solidFill>
              </a:rPr>
              <a:t>16→24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19072" y="181051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Shapes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35808" y="1627632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234440"/>
            <a:ext cx="1298448" cy="1005840"/>
          </a:xfrm>
          <a:prstGeom prst="rect">
            <a:avLst/>
          </a:prstGeom>
          <a:solidFill>
            <a:srgbClr val="162040"/>
          </a:solidFill>
          <a:ln w="1905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63824" y="12618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</a:rPr>
              <a:t>Conv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63824" y="15544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7"/>
                </a:solidFill>
              </a:rPr>
              <a:t>24→32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63824" y="181051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Buttons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80560" y="1627632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08576" y="1234440"/>
            <a:ext cx="1298448" cy="1005840"/>
          </a:xfrm>
          <a:prstGeom prst="rect">
            <a:avLst/>
          </a:prstGeom>
          <a:solidFill>
            <a:srgbClr val="162040"/>
          </a:solidFill>
          <a:ln w="19050">
            <a:solidFill>
              <a:srgbClr val="FF9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08576" y="12618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800"/>
                </a:solidFill>
              </a:rPr>
              <a:t>Conv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08576" y="15544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7"/>
                </a:solidFill>
              </a:rPr>
              <a:t>32→48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08576" y="181051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Rich features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25312" y="1627632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53328" y="1234440"/>
            <a:ext cx="1298448" cy="1005840"/>
          </a:xfrm>
          <a:prstGeom prst="rect">
            <a:avLst/>
          </a:prstGeom>
          <a:solidFill>
            <a:srgbClr val="162040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53328" y="12618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</a:rPr>
              <a:t>Conv 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53328" y="15544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7"/>
                </a:solidFill>
              </a:rPr>
              <a:t>48→32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3328" y="181051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Compress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70064" y="1627632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1234440"/>
            <a:ext cx="1298448" cy="1005840"/>
          </a:xfrm>
          <a:prstGeom prst="rect">
            <a:avLst/>
          </a:prstGeom>
          <a:solidFill>
            <a:srgbClr val="162040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98080" y="12618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FC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15544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F7"/>
                </a:solidFill>
              </a:rPr>
              <a:t>flat→256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181051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5"/>
                </a:solidFill>
              </a:rPr>
              <a:t>Global vector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2359152"/>
            <a:ext cx="4160520" cy="320040"/>
          </a:xfrm>
          <a:prstGeom prst="rect">
            <a:avLst/>
          </a:prstGeom>
          <a:solidFill>
            <a:srgbClr val="7B2FBE">
              <a:alpha val="18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3591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</a:rPr>
              <a:t>LocalCNN  —  local_cnn.py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2761488"/>
            <a:ext cx="1261872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280720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2FBE"/>
                </a:solidFill>
              </a:rPr>
              <a:t>Gaussian Mask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" y="309981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4F7"/>
                </a:solidFill>
              </a:rPr>
              <a:t>Centred on cursor position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554480" y="3017520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2FBE"/>
                </a:solidFill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691640" y="2761488"/>
            <a:ext cx="1261872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46504" y="280720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2FBE"/>
                </a:solidFill>
              </a:rPr>
              <a:t>Weighted Pool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46504" y="309981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4F7"/>
                </a:solidFill>
              </a:rPr>
              <a:t>Soft attention over feature map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971800" y="3017520"/>
            <a:ext cx="128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2FBE"/>
                </a:solidFill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108960" y="2761488"/>
            <a:ext cx="1261872" cy="749808"/>
          </a:xfrm>
          <a:prstGeom prst="rect">
            <a:avLst/>
          </a:prstGeom>
          <a:solidFill>
            <a:srgbClr val="162040"/>
          </a:solidFill>
          <a:ln w="10160">
            <a:solidFill>
              <a:srgbClr val="7B2FBE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63824" y="280720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2FBE"/>
                </a:solidFill>
              </a:rPr>
              <a:t>FC Layer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163824" y="309981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4F7"/>
                </a:solidFill>
              </a:rPr>
              <a:t>→ 128-dim local vector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2359152"/>
            <a:ext cx="4206240" cy="320040"/>
          </a:xfrm>
          <a:prstGeom prst="rect">
            <a:avLst/>
          </a:prstGeom>
          <a:solidFill>
            <a:srgbClr val="00FFCC">
              <a:alpha val="18000"/>
            </a:srgbClr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3591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CC"/>
                </a:solidFill>
              </a:rPr>
              <a:t>DOM Feature Extractor  —  dom_feature_extractor.py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2761488"/>
            <a:ext cx="4206240" cy="219456"/>
          </a:xfrm>
          <a:prstGeom prst="rect">
            <a:avLst/>
          </a:prstGeom>
          <a:solidFill>
            <a:srgbClr val="112244"/>
          </a:solidFill>
          <a:ln w="6350">
            <a:solidFill>
              <a:srgbClr val="00FFCC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2770632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</a:rPr>
              <a:t>1.  Scrape all interactive elements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3017520"/>
            <a:ext cx="4206240" cy="219456"/>
          </a:xfrm>
          <a:prstGeom prst="rect">
            <a:avLst/>
          </a:prstGeom>
          <a:solidFill>
            <a:srgbClr val="112244"/>
          </a:solidFill>
          <a:ln w="6350">
            <a:solidFill>
              <a:srgbClr val="00FFCC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3026664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</a:rPr>
              <a:t>2.  Score each vs query (Levenshtein similarity)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3273552"/>
            <a:ext cx="4206240" cy="219456"/>
          </a:xfrm>
          <a:prstGeom prst="rect">
            <a:avLst/>
          </a:prstGeom>
          <a:solidFill>
            <a:srgbClr val="112244"/>
          </a:solidFill>
          <a:ln w="6350">
            <a:solidFill>
              <a:srgbClr val="00FFCC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3282696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</a:rPr>
              <a:t>3.  Paint score onto 2D heatmap → policy head input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187952"/>
            <a:ext cx="8595360" cy="457200"/>
          </a:xfrm>
          <a:prstGeom prst="rect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1879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Joint Vector  =  GlobalCNN (256-dim)  +  LocalCNN (128-dim)  +  DOM Heatmap  →  Policy Heads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MiniWoB++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Why MiniWoB++?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618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Reproducible, controllable tasks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190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1719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Ground-truth reward from JavaScript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7627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8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Calibrated difficulty  (easy → hard)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63347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8368" y="2633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~100 tasks  ·  no real-web noise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572000" y="804672"/>
            <a:ext cx="4297680" cy="365760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6344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</a:rPr>
              <a:t>Task Difficulty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0" y="1298448"/>
            <a:ext cx="42976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645152" y="1344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🟢 Easy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614416" y="1344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click-button, click-link, focus-text, click-option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572000" y="1847088"/>
            <a:ext cx="42976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645152" y="18928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</a:rPr>
              <a:t>🟡 Medium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614416" y="1892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enter-text, click-dialog, navigate-tree, search-engine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572000" y="2395728"/>
            <a:ext cx="42976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45152" y="2441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252"/>
                </a:solidFill>
              </a:rPr>
              <a:t>🔴 Hard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614416" y="2441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book-flight, login-user, buy-ticket, terminal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Quick Start  —  miniwob_env.py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74320" y="3264408"/>
            <a:ext cx="8595360" cy="1463040"/>
          </a:xfrm>
          <a:prstGeom prst="rect">
            <a:avLst/>
          </a:prstGeom>
          <a:solidFill>
            <a:srgbClr val="060A12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75488" y="33101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5488" y="34747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miniwob gymnasium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75488" y="36393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75488" y="380390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on MiniWoB tasks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75488" y="396849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--tasks click-button click-link focus-text --episodes 300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475488" y="413308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75488" y="42976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with saved checkpoint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75488" y="44622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--run-only --resume checkpoints/final.npz --run-task click-button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 Function  —  reward.py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468880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7724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1A"/>
                </a:solidFill>
              </a:rPr>
              <a:t>Signal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0" y="777240"/>
            <a:ext cx="1005840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77724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1A"/>
                </a:solidFill>
              </a:rPr>
              <a:t>Value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77240"/>
            <a:ext cx="4754880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777240"/>
            <a:ext cx="4681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1A"/>
                </a:solidFill>
              </a:rPr>
              <a:t>Description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2468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207008"/>
            <a:ext cx="100584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207008"/>
            <a:ext cx="4754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2070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URL Changed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44368" y="12070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</a:rPr>
              <a:t>+1.0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4528" y="12070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Agent navigated to a new page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645920"/>
            <a:ext cx="2468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1645920"/>
            <a:ext cx="100584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645920"/>
            <a:ext cx="4754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645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Title Match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44368" y="16459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</a:rPr>
              <a:t>+0.6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4528" y="1645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Page title contains a query keyword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084832"/>
            <a:ext cx="2468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2084832"/>
            <a:ext cx="100584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2084832"/>
            <a:ext cx="4754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0848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DOM Match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44368" y="20848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CC"/>
                </a:solidFill>
              </a:rPr>
              <a:t>+0.4×s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4528" y="20848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Clicked element matches query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523744"/>
            <a:ext cx="2468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2523744"/>
            <a:ext cx="100584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2523744"/>
            <a:ext cx="4754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5237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Input Focused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44368" y="25237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CC"/>
                </a:solidFill>
              </a:rPr>
              <a:t>+0.2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24528" y="25237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Agent focused a text field (ready to type)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962656"/>
            <a:ext cx="2468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2962656"/>
            <a:ext cx="100584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2962656"/>
            <a:ext cx="4754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962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Scroll Progress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44368" y="29626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+0.1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24528" y="296265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Scroll moved the page meaningfully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401568"/>
            <a:ext cx="2468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401568"/>
            <a:ext cx="100584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3401568"/>
            <a:ext cx="4754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4015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Step Penalty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44368" y="34015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800"/>
                </a:solidFill>
              </a:rPr>
              <a:t>−0.05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24528" y="3401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Every step (encourages efficiency)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3840480"/>
            <a:ext cx="2468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3840480"/>
            <a:ext cx="100584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0" y="3840480"/>
            <a:ext cx="4754880" cy="384048"/>
          </a:xfrm>
          <a:prstGeom prst="rect">
            <a:avLst/>
          </a:prstGeom>
          <a:solidFill>
            <a:srgbClr val="162040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840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Repeat Action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944368" y="38404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−0.1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24528" y="38404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Same action ≥3 times in a row (stuck)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279392"/>
            <a:ext cx="2468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4279392"/>
            <a:ext cx="100584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0" y="4279392"/>
            <a:ext cx="4754880" cy="384048"/>
          </a:xfrm>
          <a:prstGeom prst="rect">
            <a:avLst/>
          </a:prstGeom>
          <a:solidFill>
            <a:srgbClr val="112244"/>
          </a:solidFill>
          <a:ln w="3810">
            <a:solidFill>
              <a:srgbClr val="1122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2793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7"/>
                </a:solidFill>
              </a:rPr>
              <a:t>Timeout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944368" y="42793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−1.0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24528" y="42793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Max steps reached without success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4700016"/>
            <a:ext cx="8595360" cy="301752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700016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All rewards are clipped to  [−1.0,  +1.0]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Structure &amp;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023360"/>
          </a:xfrm>
          <a:prstGeom prst="rect">
            <a:avLst/>
          </a:prstGeom>
          <a:solidFill>
            <a:srgbClr val="060A1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347472"/>
          </a:xfrm>
          <a:prstGeom prst="rect">
            <a:avLst/>
          </a:prstGeom>
          <a:solidFill>
            <a:srgbClr val="FF9800">
              <a:alpha val="75000"/>
            </a:srgbClr>
          </a:solidFill>
          <a:ln w="12700">
            <a:solidFill>
              <a:srgbClr val="FF98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8321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04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web-agent/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12161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train.py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4048" y="14447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gui.py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6733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requirements.txt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84048" y="1901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dataset/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4048" y="21305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tasks.json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4048" y="23591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checkpoints/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4048" y="25877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env/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84048" y="28163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__init__.py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404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screen_processor.py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4048" y="32735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global_cnn.py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84048" y="35021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local_cnn.py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4048" y="37307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dom_feature_extractor.py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84048" y="39593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environment_handler.py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84048" y="4187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reward.py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4048" y="44165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miniwob_env.py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0" y="804672"/>
            <a:ext cx="4297680" cy="347472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832104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74336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Installation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0" y="1261872"/>
            <a:ext cx="4297680" cy="603504"/>
          </a:xfrm>
          <a:prstGeom prst="rect">
            <a:avLst/>
          </a:prstGeom>
          <a:solidFill>
            <a:srgbClr val="060A12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81728" y="12984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Python deps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681728" y="14996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 pillow gymnasium miniwob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572000" y="1956816"/>
            <a:ext cx="4297680" cy="603504"/>
          </a:xfrm>
          <a:prstGeom prst="rect">
            <a:avLst/>
          </a:prstGeom>
          <a:solidFill>
            <a:srgbClr val="060A12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81728" y="199339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Install Streamlit GUI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681728" y="2194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572000" y="2651760"/>
            <a:ext cx="4297680" cy="603504"/>
          </a:xfrm>
          <a:prstGeom prst="rect">
            <a:avLst/>
          </a:prstGeom>
          <a:solidFill>
            <a:srgbClr val="060A12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81728" y="268833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Train the agent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681728" y="28895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--tasks click-button --episodes 500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4572000" y="3346704"/>
            <a:ext cx="4297680" cy="603504"/>
          </a:xfrm>
          <a:prstGeom prst="rect">
            <a:avLst/>
          </a:prstGeom>
          <a:solidFill>
            <a:srgbClr val="060A12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681728" y="33832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Launch dashboard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681728" y="3584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gui.py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4572000" y="4078224"/>
            <a:ext cx="4297680" cy="3200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FFCC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05656"/>
            <a:ext cx="256032" cy="25603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937760" y="40782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7"/>
                </a:solidFill>
              </a:rPr>
              <a:t>Python 3.10+  ·  numpy  ·  pillow  ·  gymnasium  ·  miniwob  ·  streamlit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777240"/>
            <a:ext cx="21945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960120"/>
            <a:ext cx="1572768" cy="34747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78992"/>
            <a:ext cx="914400" cy="914400"/>
          </a:xfrm>
          <a:prstGeom prst="ellipse">
            <a:avLst/>
          </a:prstGeom>
          <a:solidFill>
            <a:srgbClr val="00D4FF">
              <a:alpha val="85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78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Ahmed Khaled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" y="283464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00D4FF">
              <a:alpha val="7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8346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RL &amp; Training Loop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255264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BB5"/>
                </a:solidFill>
              </a:rPr>
              <a:t>ahmed.ghaith979@gmail.com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048256" y="960120"/>
            <a:ext cx="1572768" cy="3474720"/>
          </a:xfrm>
          <a:prstGeom prst="rect">
            <a:avLst/>
          </a:prstGeom>
          <a:solidFill>
            <a:srgbClr val="112244"/>
          </a:solidFill>
          <a:ln w="1905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078992"/>
            <a:ext cx="914400" cy="914400"/>
          </a:xfrm>
          <a:prstGeom prst="ellipse">
            <a:avLst/>
          </a:prstGeom>
          <a:solidFill>
            <a:srgbClr val="7B2FBE">
              <a:alpha val="85000"/>
            </a:srgbClr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078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22585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Hager Ayman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39696" y="283464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7B2FBE">
              <a:alpha val="70000"/>
            </a:srgbClr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28346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 &amp; CNN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84832" y="3255264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BB5"/>
                </a:solidFill>
              </a:rPr>
              <a:t>hagar.abosamra55@gmail.com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785616" y="960120"/>
            <a:ext cx="1572768" cy="34747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FF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1078992"/>
            <a:ext cx="914400" cy="914400"/>
          </a:xfrm>
          <a:prstGeom prst="ellipse">
            <a:avLst/>
          </a:prstGeom>
          <a:solidFill>
            <a:srgbClr val="00FFCC">
              <a:alpha val="85000"/>
            </a:srgbClr>
          </a:solidFill>
          <a:ln w="25400">
            <a:solidFill>
              <a:srgbClr val="00F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078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MF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22585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Moustafa Fathalla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77056" y="283464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00FFCC">
              <a:alpha val="70000"/>
            </a:srgbClr>
          </a:solidFill>
          <a:ln w="6350">
            <a:solidFill>
              <a:srgbClr val="00F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8346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DOM &amp; Reward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22192" y="3255264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BB5"/>
                </a:solidFill>
              </a:rPr>
              <a:t>moustafa2005omar@gmail.com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522976" y="960120"/>
            <a:ext cx="1572768" cy="3474720"/>
          </a:xfrm>
          <a:prstGeom prst="rect">
            <a:avLst/>
          </a:prstGeom>
          <a:solidFill>
            <a:srgbClr val="112244"/>
          </a:solidFill>
          <a:ln w="19050">
            <a:solidFill>
              <a:srgbClr val="FF9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52160" y="1078992"/>
            <a:ext cx="914400" cy="914400"/>
          </a:xfrm>
          <a:prstGeom prst="ellipse">
            <a:avLst/>
          </a:prstGeom>
          <a:solidFill>
            <a:srgbClr val="FF9800">
              <a:alpha val="85000"/>
            </a:srgbClr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078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77840" y="22585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Hend Elkholy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14416" y="283464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F9800">
              <a:alpha val="70000"/>
            </a:srgbClr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28346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MiniWoB &amp; Eval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9552" y="3255264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BB5"/>
                </a:solidFill>
              </a:rPr>
              <a:t>Hendelkholy55@gmail.com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260336" y="960120"/>
            <a:ext cx="1572768" cy="34747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0" y="1078992"/>
            <a:ext cx="914400" cy="914400"/>
          </a:xfrm>
          <a:prstGeom prst="ellipse">
            <a:avLst/>
          </a:prstGeom>
          <a:solidFill>
            <a:srgbClr val="00E676">
              <a:alpha val="85000"/>
            </a:srgbClr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0789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MI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315200" y="22585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Mina Ibrahim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51776" y="283464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00E676">
              <a:alpha val="70000"/>
            </a:srgbClr>
          </a:solidFill>
          <a:ln w="635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28346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Browser &amp; Execution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296912" y="3255264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BB5"/>
                </a:solidFill>
              </a:rPr>
              <a:t>—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E4F7"/>
                </a:solidFill>
              </a:rPr>
              <a:t>Questions?  Feedback?  Pull Requests?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</a:rPr>
              <a:t>🔮  Future Improvements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3931920" cy="484632"/>
          </a:xfrm>
          <a:prstGeom prst="rect">
            <a:avLst/>
          </a:prstGeom>
          <a:solidFill>
            <a:srgbClr val="162040"/>
          </a:solidFill>
          <a:ln w="635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📊  Success rate metrics and F1 per task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395728"/>
            <a:ext cx="3931920" cy="484632"/>
          </a:xfrm>
          <a:prstGeom prst="rect">
            <a:avLst/>
          </a:prstGeom>
          <a:solidFill>
            <a:srgbClr val="162040"/>
          </a:solidFill>
          <a:ln w="6350">
            <a:solidFill>
              <a:srgbClr val="00FFC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🔍  NER-based skill and entity extraction from page 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3931920" cy="484632"/>
          </a:xfrm>
          <a:prstGeom prst="rect">
            <a:avLst/>
          </a:prstGeom>
          <a:solidFill>
            <a:srgbClr val="162040"/>
          </a:solidFill>
          <a:ln w="635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8094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🧠  BERT / sentence-transformer for better DOM matching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962656"/>
            <a:ext cx="3931920" cy="484632"/>
          </a:xfrm>
          <a:prstGeom prst="rect">
            <a:avLst/>
          </a:prstGeom>
          <a:solidFill>
            <a:srgbClr val="162040"/>
          </a:solidFill>
          <a:ln w="6350">
            <a:solidFill>
              <a:srgbClr val="00FFCC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98094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📋  Multi-tab and multi-step task sequences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3931920" cy="484632"/>
          </a:xfrm>
          <a:prstGeom prst="rect">
            <a:avLst/>
          </a:prstGeom>
          <a:solidFill>
            <a:srgbClr val="162040"/>
          </a:solidFill>
          <a:ln w="635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478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🏋️  PPO or A2C to replace vanilla REINFORCE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529584"/>
            <a:ext cx="3931920" cy="484632"/>
          </a:xfrm>
          <a:prstGeom prst="rect">
            <a:avLst/>
          </a:prstGeom>
          <a:solidFill>
            <a:srgbClr val="162040"/>
          </a:solidFill>
          <a:ln w="6350">
            <a:solidFill>
              <a:srgbClr val="00FFCC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5478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7"/>
                </a:solidFill>
              </a:rPr>
              <a:t>📈  Live training dashboard with Streamlit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Web Agent  ·  github.com/web-agent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1048</Words>
  <Application>Microsoft Office PowerPoint</Application>
  <PresentationFormat>On-screen Show (16:9)</PresentationFormat>
  <Paragraphs>263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Agent — DQL &amp; CNN Perception</dc:title>
  <dc:subject>Reinforcement Learning Web Navigation</dc:subject>
  <dc:creator>Web Agent Team</dc:creator>
  <cp:lastModifiedBy>moustafa Fathalla</cp:lastModifiedBy>
  <cp:revision>2</cp:revision>
  <dcterms:created xsi:type="dcterms:W3CDTF">2026-05-08T17:44:03Z</dcterms:created>
  <dcterms:modified xsi:type="dcterms:W3CDTF">2026-05-08T17:53:47Z</dcterms:modified>
</cp:coreProperties>
</file>